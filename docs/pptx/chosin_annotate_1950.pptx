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오프닝: 문서 한 장을 함께 읽자고 제안합니다. 기록은 그 자체가 말을 한다는 것이 이 절의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레퍼런스(서울기록원류 해설 지면)의 메타데이터 표 형식. 제목·식별번호·제작·소재·시기·권리 여섯 항목.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마커를 순서대로 짚습니다: 인장(제작 주체) → 타이틀(공식 제작물) → PF# 타임코드(인용 좌표) → 워터마크(판본 구분). 판독은 화면에서 읽히는 것만.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권리 계보 슬라이드. 판본 구분 명기가 콘텐츠 신뢰 원칙의 핵심임을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기술(記述)이 부실한 기록일수록 화면 판독이 1차 사료가 됩니다. 차량 표식·적재 상태·타임코드 세 가지를 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CTA. 청중의 소장 자료(옛 필름·사진)로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640080"/>
            <a:ext cx="6492240" cy="34084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8A24A"/>
                </a:solidFill>
                <a:latin typeface="맑은 고딕"/>
              </a:rPr>
              <a:t>프레임 판독 — 기록 해설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920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2D6"/>
                </a:solidFill>
                <a:latin typeface="맑은 고딕"/>
              </a:rPr>
              <a:t>기록을 해설해 드립니다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9D9384"/>
                </a:solidFill>
                <a:latin typeface="맑은 고딕"/>
              </a:rPr>
              <a:t>한 프레임에서 제작 주체·판본·권리·좌표를 읽는 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23A2E"/>
                </a:solidFill>
                <a:latin typeface="맑은 고딕"/>
              </a:rPr>
              <a:t>기록물 #1 — 기본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41D15"/>
                </a:solidFill>
                <a:latin typeface="맑은 고딕"/>
              </a:rPr>
              <a:t>이 필름의 신원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91640"/>
          <a:ext cx="7863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2179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41D15"/>
                          </a:solidFill>
                          <a:latin typeface="맑은 고딕"/>
                        </a:rPr>
                        <a:t>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41D15"/>
                          </a:solidFill>
                          <a:latin typeface="맑은 고딕"/>
                        </a:rPr>
                        <a:t>Chosin to Hungnam (장진호에서 흥남으로)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41D15"/>
                          </a:solidFill>
                          <a:latin typeface="맑은 고딕"/>
                        </a:rPr>
                        <a:t>식별번호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41D15"/>
                          </a:solidFill>
                          <a:latin typeface="맑은 고딕"/>
                        </a:rPr>
                        <a:t>archive.org 81594 · PF# 81594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41D15"/>
                          </a:solidFill>
                          <a:latin typeface="맑은 고딕"/>
                        </a:rPr>
                        <a:t>원 제작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41D15"/>
                          </a:solidFill>
                          <a:latin typeface="맑은 고딕"/>
                        </a:rPr>
                        <a:t>미 해군(U.S. Navy) — 타이틀 카드 판독 ①·②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41D15"/>
                          </a:solidFill>
                          <a:latin typeface="맑은 고딕"/>
                        </a:rPr>
                        <a:t>사본 소재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41D15"/>
                          </a:solidFill>
                          <a:latin typeface="맑은 고딕"/>
                        </a:rPr>
                        <a:t>Internet Archive — Periscope Film 디지털화본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41D15"/>
                          </a:solidFill>
                          <a:latin typeface="맑은 고딕"/>
                        </a:rPr>
                        <a:t>생산시기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41D15"/>
                          </a:solidFill>
                          <a:latin typeface="맑은 고딕"/>
                        </a:rPr>
                        <a:t>1950년 12월 (장진호 철수 작전)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41D15"/>
                          </a:solidFill>
                          <a:latin typeface="맑은 고딕"/>
                        </a:rPr>
                        <a:t>권리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41D15"/>
                          </a:solidFill>
                          <a:latin typeface="맑은 고딕"/>
                        </a:rPr>
                        <a:t>원판 미 연방정부 저작물(PD) · 디지털화본 업체 워터마크 표시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doc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691640"/>
            <a:ext cx="292608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41D15"/>
                </a:solidFill>
                <a:latin typeface="맑은 고딕"/>
              </a:rPr>
              <a:t>여섯 줄의 신원 — 전부 화면과 카탈로그에서 실확인한 것만 적었습니다.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23A2E"/>
                </a:solidFill>
                <a:latin typeface="맑은 고딕"/>
              </a:rPr>
              <a:t>기록물 #1 — 판독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41D15"/>
                </a:solidFill>
                <a:latin typeface="맑은 고딕"/>
              </a:rPr>
              <a:t>한 프레임, 네 가지 단서</a:t>
            </a:r>
          </a:p>
        </p:txBody>
      </p:sp>
      <p:pic>
        <p:nvPicPr>
          <p:cNvPr id="4" name="Picture 3" descr="doc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6035040" cy="340309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605686" y="2298070"/>
            <a:ext cx="329184" cy="329184"/>
          </a:xfrm>
          <a:prstGeom prst="ellipse">
            <a:avLst/>
          </a:prstGeom>
          <a:solidFill>
            <a:srgbClr val="B23A2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4140403" y="2842564"/>
            <a:ext cx="329184" cy="329184"/>
          </a:xfrm>
          <a:prstGeom prst="ellipse">
            <a:avLst/>
          </a:prstGeom>
          <a:solidFill>
            <a:srgbClr val="B23A2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3355847" y="4135739"/>
            <a:ext cx="329184" cy="329184"/>
          </a:xfrm>
          <a:prstGeom prst="ellipse">
            <a:avLst/>
          </a:prstGeom>
          <a:solidFill>
            <a:srgbClr val="B23A2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3355847" y="4476048"/>
            <a:ext cx="329184" cy="329184"/>
          </a:xfrm>
          <a:prstGeom prst="ellipse">
            <a:avLst/>
          </a:prstGeom>
          <a:solidFill>
            <a:srgbClr val="B23A2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1D15"/>
                </a:solidFill>
                <a:latin typeface="맑은 고딕"/>
              </a:rPr>
              <a:t>1  미 해군부 인장 — ‘NAVY DEPARTMENT · UNITED STATES OF AMERICA’. 제작 주체가 화면에 남긴 공식 표식.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1D15"/>
                </a:solidFill>
                <a:latin typeface="맑은 고딕"/>
              </a:rPr>
              <a:t>2  ‘The United States Navy Presents’ — 미 해군 공식 제작물임을 밝히는 오프닝 타이틀.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1D15"/>
                </a:solidFill>
                <a:latin typeface="맑은 고딕"/>
              </a:rPr>
              <a:t>3  ‘PF# 81594 00:00:58:02’ — 디지털화 업체 카탈로그 번호와 타임코드. 인용 시 장면 좌표가 된다.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1D15"/>
                </a:solidFill>
                <a:latin typeface="맑은 고딕"/>
              </a:rPr>
              <a:t>4  PeriscopeFilm.com 워터마크 — 원판(PD)과 달리 디지털화본에는 업체 표시가 있다. 사용 시 명기.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D9384"/>
                </a:solidFill>
                <a:latin typeface="맑은 고딕"/>
              </a:rPr>
              <a:t>출처: archive.org 81594 — 미 해군 제작(원판 US PD) · Periscope Film 디지털화본(워터마크 표시)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8A24A"/>
                </a:solidFill>
                <a:latin typeface="맑은 고딕"/>
              </a:rPr>
              <a:t>기록물 #1 — 계보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9E2D6"/>
                </a:solidFill>
                <a:latin typeface="맑은 고딕"/>
              </a:rPr>
              <a:t>원판과 사본은 다릅니다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E9E2D6"/>
                </a:solidFill>
                <a:latin typeface="맑은 고딕"/>
              </a:rPr>
              <a:t>원판 — 미 해군 제작 · 미 연방정부 저작물 → 퍼블릭 도메인</a:t>
            </a:r>
          </a:p>
          <a:p>
            <a:pPr algn="l">
              <a:lnSpc>
                <a:spcPct val="150000"/>
              </a:lnSpc>
            </a:pPr>
            <a:r>
              <a:rPr sz="2000" b="1">
                <a:solidFill>
                  <a:srgbClr val="C8A24A"/>
                </a:solidFill>
                <a:latin typeface="맑은 고딕"/>
              </a:rPr>
              <a:t>사본 — Periscope Film 디지털화본 → 워터마크·업체 표시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E9E2D6"/>
                </a:solidFill>
                <a:latin typeface="맑은 고딕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E9E2D6"/>
                </a:solidFill>
                <a:latin typeface="맑은 고딕"/>
              </a:rPr>
              <a:t>그래서 프레임을 쓸 때마다 어느 판본에서 왔는지를 함께 적습니다.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E9E2D6"/>
                </a:solidFill>
                <a:latin typeface="맑은 고딕"/>
              </a:rPr>
              <a:t>그것이 기록을 다루는 예의입니다.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23A2E"/>
                </a:solidFill>
                <a:latin typeface="맑은 고딕"/>
              </a:rPr>
              <a:t>기록물 #2 — 장면 판독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41D15"/>
                </a:solidFill>
                <a:latin typeface="맑은 고딕"/>
              </a:rPr>
              <a:t>카탈로그에 없는 정보는 화면에 있습니다</a:t>
            </a:r>
          </a:p>
        </p:txBody>
      </p:sp>
      <p:pic>
        <p:nvPicPr>
          <p:cNvPr id="4" name="Picture 3" descr="doc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6035040" cy="340309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321454" y="3353028"/>
            <a:ext cx="329184" cy="329184"/>
          </a:xfrm>
          <a:prstGeom prst="ellipse">
            <a:avLst/>
          </a:prstGeom>
          <a:solidFill>
            <a:srgbClr val="B23A2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717950" y="2502255"/>
            <a:ext cx="329184" cy="329184"/>
          </a:xfrm>
          <a:prstGeom prst="ellipse">
            <a:avLst/>
          </a:prstGeom>
          <a:solidFill>
            <a:srgbClr val="B23A2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3355847" y="4339925"/>
            <a:ext cx="329184" cy="329184"/>
          </a:xfrm>
          <a:prstGeom prst="ellipse">
            <a:avLst/>
          </a:prstGeom>
          <a:solidFill>
            <a:srgbClr val="B23A2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1D15"/>
                </a:solidFill>
                <a:latin typeface="맑은 고딕"/>
              </a:rPr>
              <a:t>1  백색 성표(White Star) — 미군 차량 공통 식별 표식. 미군 소속 차량임을 화면에서 확정.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1D15"/>
                </a:solidFill>
                <a:latin typeface="맑은 고딕"/>
              </a:rPr>
              <a:t>2  적재함 위의 병사들 — 철수 국면에서 병력과 물자가 함께 이동했음을 보여 준다.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1D15"/>
                </a:solidFill>
                <a:latin typeface="맑은 고딕"/>
              </a:rPr>
              <a:t>3  타임코드 00:11:58 — 같은 필름 안에서 이 장면의 서사적 위치를 특정.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D9384"/>
                </a:solidFill>
                <a:latin typeface="맑은 고딕"/>
              </a:rPr>
              <a:t>출처: archive.org 81594 — 미 해군 제작(원판 US PD) · Periscope Film 디지털화본(워터마크 표시)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E9E2D6"/>
                </a:solidFill>
                <a:latin typeface="맑은 고딕"/>
              </a:rPr>
              <a:t>당신의 기록도 읽어 드립니다.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5661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C8A24A"/>
                </a:solidFill>
                <a:latin typeface="맑은 고딕"/>
              </a:rPr>
              <a:t>“○○○ 풀패키지로 만들어줘” — Claude 커넥터: korea-archive-mcp.vercel.app/api/mcp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