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인사 후 한 문장으로 시작합니다. 1950년 겨울 장진호에서 미군 통신대가 찍은 필름이 미국 국립문서기록관리청, archive.org, 그리고 한국의 KOREAN WAR ARCHIVES — 세 아카이브에 남아 서로를 증명합니다. 오늘은 이 발굴의 과정과 방법을 보여드립니다.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구조 소개. 조사 입력은 한국어 한 문장뿐이었고, 나머지는 풀패키지 파이프라인이 이어졌다는 점을 미리 언급합니다.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청중이 기억해야 할 단 하나: 매직 키워드. 웹과 모바일의 Claude 커넥터에서도 같은 품질로 동작한다는 점을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발굴의 핵심 스토리. 단일 기관 검색으로는 보이지 않던 연결이 교차검색과 인접 채굴(식별번호 앞뒤 훑기)로 드러났음을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프레임 넷을 순서대로 읽습니다: 부두의 차량 집결, 수송선 접안, 트럭 선적, 갑판 위 병사들. 세 아카이브가 같은 장면을 소장하고 있음을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고토리 계곡을 빠져나가는 차량 종대. 디지털화 주체(Periscope Film)와 워터마크 존재를 그대로 밝히는 것이 신뢰 원칙임을 언급합니다.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알려진 이미지의 ‘원판이 어디 있는가’를 추적한 결과. 자료 화면 대체 시 그 사실을 명기하는 원칙도 소개합니다.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영상 기록은 프레임 추출(총 33컷)로 내용을 먼저 파악하게 하고, 반드시 원본 시청 링크로 연결합니다. 다운로드 재배포가 아니라 열람 유도가 원칙입니다.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목록의 모든 행은 도구 호출로 실확인한 것만 싣습니다. 재현 쿼리를 함께 실어 누구든 같은 결과를 다시 얻을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프로젝트의 차별점. 검증 낙관은 장식이 아니라 심사 통과 도장입니다. KWA 게시물 공개 상태를 정정한 이력도 지면에 그대로 남겼습니다.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발굴 산출물이 시각물로 끝나지 않고 KARDA 온톨로지 입력 데이터가 됩니다. 관계마다 근거를 남겨 연구 재검증이 가능합니다.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보고서 하나로 끝나지 않습니다. 같은 검증을 통과한 카드뉴스와 포스터가 병행 제작되고, Canva 편집본으로 2차 수정도 가능합니다.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청중 참여 유도. 주제를 받아 다음 호를 함께 만드는 워크숍형 마무리도 가능합니다.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 총람으로 마무리. 질의응답으로 전환합니다.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C8A24A"/>
                </a:solidFill>
                <a:latin typeface="맑은 고딕"/>
              </a:rPr>
              <a:t>KOREA ARCHIVE 통합검색 — 기록 발굴 보고 제2호 · 발표자료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>
                <a:solidFill>
                  <a:srgbClr val="E9E2D6"/>
                </a:solidFill>
                <a:latin typeface="맑은 고딕"/>
              </a:rPr>
              <a:t>영하 30도, </a:t>
            </a:r>
            <a:r>
              <a:rPr sz="4000" b="1">
                <a:solidFill>
                  <a:srgbClr val="C8A24A"/>
                </a:solidFill>
                <a:latin typeface="맑은 고딕"/>
              </a:rPr>
              <a:t>필름은 세 나라에 남았다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23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E9E2D6"/>
                </a:solidFill>
                <a:latin typeface="맑은 고딕"/>
              </a:rPr>
              <a:t>장진호 1950 — 미국·인터넷 아카이브·한국, 세 아카이브가 서로를 증명한 발굴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9D9384"/>
                </a:solidFill>
                <a:latin typeface="맑은 고딕"/>
              </a:rPr>
              <a:t>배경: 실제 산출물 — 장진호 발굴 보고 제2호 표지(NARA RG 111 통신대 필름 프레임) · US PD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54864" cy="310896"/>
          </a:xfrm>
          <a:prstGeom prst="rect">
            <a:avLst/>
          </a:prstGeom>
          <a:solidFill>
            <a:srgbClr val="8F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8F1D22"/>
                </a:solidFill>
                <a:latin typeface="맑은 고딕"/>
              </a:rPr>
              <a:t>오늘의 이야기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241D15"/>
                </a:solidFill>
                <a:latin typeface="맑은 고딕"/>
              </a:rPr>
              <a:t>발굴에서 전파까지, 네 걸음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8F1D22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41D15"/>
                </a:solidFill>
                <a:latin typeface="맑은 고딕"/>
              </a:rPr>
              <a:t>발굴 경위  —  </a:t>
            </a:r>
            <a:r>
              <a:rPr sz="1400" b="0">
                <a:solidFill>
                  <a:srgbClr val="241D15"/>
                </a:solidFill>
                <a:latin typeface="맑은 고딕"/>
              </a:rPr>
              <a:t>한국어 한 문장 → 15개 아카이브 교차검색 153건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80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8F1D22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803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41D15"/>
                </a:solidFill>
                <a:latin typeface="맑은 고딕"/>
              </a:rPr>
              <a:t>핵심 기록  —  </a:t>
            </a:r>
            <a:r>
              <a:rPr sz="1400" b="0">
                <a:solidFill>
                  <a:srgbClr val="241D15"/>
                </a:solidFill>
                <a:latin typeface="맑은 고딕"/>
              </a:rPr>
              <a:t>승선 필름·고토리 철수·혹한의 해병·구술 8건+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8F1D22"/>
                </a:solidFill>
                <a:latin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9319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41D15"/>
                </a:solidFill>
                <a:latin typeface="맑은 고딕"/>
              </a:rPr>
              <a:t>검증과 윤리  —  </a:t>
            </a:r>
            <a:r>
              <a:rPr sz="1400" b="0">
                <a:solidFill>
                  <a:srgbClr val="241D15"/>
                </a:solidFill>
                <a:latin typeface="맑은 고딕"/>
              </a:rPr>
              <a:t>API 원문 대조 · 권리 판정 · 게재윤리 4단계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9834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8F1D22"/>
                </a:solidFill>
                <a:latin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983479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241D15"/>
                </a:solidFill>
                <a:latin typeface="맑은 고딕"/>
              </a:rPr>
              <a:t>전파물과 활용  —  </a:t>
            </a:r>
            <a:r>
              <a:rPr sz="1400" b="0">
                <a:solidFill>
                  <a:srgbClr val="241D15"/>
                </a:solidFill>
                <a:latin typeface="맑은 고딕"/>
              </a:rPr>
              <a:t>매거진·카드뉴스·포스터·KARDA 연구 그래프</a:t>
            </a:r>
          </a:p>
        </p:txBody>
      </p:sp>
      <p:pic>
        <p:nvPicPr>
          <p:cNvPr id="13" name="Picture 12" descr="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4846320" cy="4846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6172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9D9384"/>
                </a:solidFill>
                <a:latin typeface="맑은 고딕"/>
              </a:rPr>
              <a:t>오른쪽: 실제 보고서 지면 — 차례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54864" cy="310896"/>
          </a:xfrm>
          <a:prstGeom prst="rect">
            <a:avLst/>
          </a:prstGeom>
          <a:solidFill>
            <a:srgbClr val="8F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8A24A"/>
                </a:solidFill>
                <a:latin typeface="맑은 고딕"/>
              </a:rPr>
              <a:t>사용법의 전부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400" b="1">
                <a:solidFill>
                  <a:srgbClr val="E9E2D6"/>
                </a:solidFill>
                <a:latin typeface="맑은 고딕"/>
              </a:rPr>
              <a:t>매직 키워드 </a:t>
            </a:r>
            <a:r>
              <a:rPr sz="3400" b="1">
                <a:solidFill>
                  <a:srgbClr val="C8A24A"/>
                </a:solidFill>
                <a:latin typeface="맑은 고딕"/>
              </a:rPr>
              <a:t>“풀패키지”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48840"/>
            <a:ext cx="73152" cy="1371600"/>
          </a:xfrm>
          <a:prstGeom prst="rect">
            <a:avLst/>
          </a:prstGeom>
          <a:solidFill>
            <a:srgbClr val="C8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700" b="1">
                <a:solidFill>
                  <a:srgbClr val="E9E2D6"/>
                </a:solidFill>
                <a:latin typeface="맑은 고딕"/>
              </a:rPr>
              <a:t>“장진호 풀패키지로 만들어줘”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9D9384"/>
                </a:solidFill>
                <a:latin typeface="맑은 고딕"/>
              </a:rPr>
              <a:t>— Claude에게 보낸 입력의 전부. 주제만 바꾸면 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977639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E9E2D6"/>
                </a:solidFill>
                <a:latin typeface="맑은 고딕"/>
              </a:rPr>
              <a:t>이후 8단계가 자동으로 이어집니다: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E9E2D6"/>
                </a:solidFill>
                <a:latin typeface="맑은 고딕"/>
              </a:rPr>
              <a:t>발굴 조사 → 실물 이미지 수집 → 매거진 보고서 → 카드뉴스 8장 → 포스터 시리즈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700" b="0">
                <a:solidFill>
                  <a:srgbClr val="E9E2D6"/>
                </a:solidFill>
                <a:latin typeface="맑은 고딕"/>
              </a:rPr>
              <a:t>→ Canva 편집본 → ZIP 패키지·작업 로그 → KARDA 연구 그래프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9D9384"/>
                </a:solidFill>
                <a:latin typeface="맑은 고딕"/>
              </a:rPr>
              <a:t>MCP 커넥터: korea-archive-mcp.vercel.app/api/mcp — 웹·모바일 동일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54864" cy="310896"/>
          </a:xfrm>
          <a:prstGeom prst="rect">
            <a:avLst/>
          </a:prstGeom>
          <a:solidFill>
            <a:srgbClr val="8F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8F1D22"/>
                </a:solidFill>
                <a:latin typeface="맑은 고딕"/>
              </a:rPr>
              <a:t>발굴 경위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241D15"/>
                </a:solidFill>
                <a:latin typeface="맑은 고딕"/>
              </a:rPr>
              <a:t>한 필름, 세 아카이브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000" b="1">
                <a:solidFill>
                  <a:srgbClr val="241D15"/>
                </a:solidFill>
                <a:latin typeface="맑은 고딕"/>
              </a:rPr>
              <a:t>검색 153건 → 대표 21건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41D15"/>
                </a:solidFill>
                <a:latin typeface="맑은 고딕"/>
              </a:rPr>
              <a:t>NARA RG 111(통신대)·RG 127(해병대)의 필름과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41D15"/>
                </a:solidFill>
                <a:latin typeface="맑은 고딕"/>
              </a:rPr>
              <a:t>archive.org 공개 사본, KOREAN WAR ARCHIVES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41D15"/>
                </a:solidFill>
                <a:latin typeface="맑은 고딕"/>
              </a:rPr>
              <a:t>제5·제7연대 승선 영상이 같은 장면을 가리켰습니다.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41D15"/>
                </a:solidFill>
                <a:latin typeface="맑은 고딕"/>
              </a:rPr>
              <a:t/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000" b="1">
                <a:solidFill>
                  <a:srgbClr val="8F1D22"/>
                </a:solidFill>
                <a:latin typeface="맑은 고딕"/>
              </a:rPr>
              <a:t>“3중 소장”의 발견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41D15"/>
                </a:solidFill>
                <a:latin typeface="맑은 고딕"/>
              </a:rPr>
              <a:t>같은 필름이 세 나라 아카이브에 각각 남아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41D15"/>
                </a:solidFill>
                <a:latin typeface="맑은 고딕"/>
              </a:rPr>
              <a:t>서로가 서로의 출처를 증명합니다.</a:t>
            </a:r>
          </a:p>
        </p:txBody>
      </p:sp>
      <p:pic>
        <p:nvPicPr>
          <p:cNvPr id="6" name="Picture 5" descr="s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6172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9D9384"/>
                </a:solidFill>
                <a:latin typeface="맑은 고딕"/>
              </a:rPr>
              <a:t>오른쪽: 실제 보고서 지면 — 발굴 경위(드롭캡·인라인 도판)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54864" cy="310896"/>
          </a:xfrm>
          <a:prstGeom prst="rect">
            <a:avLst/>
          </a:prstGeom>
          <a:solidFill>
            <a:srgbClr val="8F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8A24A"/>
                </a:solidFill>
                <a:latin typeface="맑은 고딕"/>
              </a:rPr>
              <a:t>핵심 기록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E9E2D6"/>
                </a:solidFill>
                <a:latin typeface="맑은 고딕"/>
              </a:rPr>
              <a:t>승선의 필름 — 같은 기록이 세 아카이브에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C8A24A"/>
                </a:solidFill>
                <a:latin typeface="맑은 고딕"/>
              </a:rPr>
              <a:t>제1해병사단 5·7연대 수송선 승선 · IA ADC-9438 ↔ NARA RG 111 ↔ KWA 제5·제7연대</a:t>
            </a:r>
          </a:p>
        </p:txBody>
      </p:sp>
      <p:pic>
        <p:nvPicPr>
          <p:cNvPr id="6" name="Picture 5" descr="s5adc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31720"/>
            <a:ext cx="2697480" cy="20208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4348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E9E2D6"/>
                </a:solidFill>
                <a:latin typeface="맑은 고딕"/>
              </a:rPr>
              <a:t>부두 — 차량·물자 집결</a:t>
            </a:r>
          </a:p>
        </p:txBody>
      </p:sp>
      <p:pic>
        <p:nvPicPr>
          <p:cNvPr id="8" name="Picture 7" descr="s5adc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2331720"/>
            <a:ext cx="2697480" cy="20208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55848" y="44348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E9E2D6"/>
                </a:solidFill>
                <a:latin typeface="맑은 고딕"/>
              </a:rPr>
              <a:t>접안 — 수송선</a:t>
            </a:r>
          </a:p>
        </p:txBody>
      </p:sp>
      <p:pic>
        <p:nvPicPr>
          <p:cNvPr id="10" name="Picture 9" descr="s5adc_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2331720"/>
            <a:ext cx="2697480" cy="20208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08776" y="44348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E9E2D6"/>
                </a:solidFill>
                <a:latin typeface="맑은 고딕"/>
              </a:rPr>
              <a:t>선적 — 트럭을 배에</a:t>
            </a:r>
          </a:p>
        </p:txBody>
      </p:sp>
      <p:pic>
        <p:nvPicPr>
          <p:cNvPr id="12" name="Picture 11" descr="s5adc_0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1704" y="2331720"/>
            <a:ext cx="2697480" cy="20208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61704" y="443484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E9E2D6"/>
                </a:solidFill>
                <a:latin typeface="맑은 고딕"/>
              </a:rPr>
              <a:t>갑판 — 병사들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120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E9E2D6"/>
                </a:solidFill>
                <a:latin typeface="맑은 고딕"/>
              </a:rPr>
              <a:t>부두의 집결에서 갑판의 안도까지 — 승선의 순서가 필름 그대로 남아 있습니다.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9D9384"/>
                </a:solidFill>
                <a:latin typeface="맑은 고딕"/>
              </a:rPr>
              <a:t>출처: Internet Archive ADC-9438 프레임 — 미 국방부 제작 · US PD · archive.org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3440"/>
            <a:ext cx="12191695" cy="219456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700" b="1">
                <a:solidFill>
                  <a:srgbClr val="E9E2D6"/>
                </a:solidFill>
                <a:latin typeface="맑은 고딕"/>
              </a:rPr>
              <a:t>고토리로 — 철수의 기록영상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532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C8A24A"/>
                </a:solidFill>
                <a:latin typeface="맑은 고딕"/>
              </a:rPr>
              <a:t>인접 채굴(00203→00211)로 시리즈 연쇄 확인 · 원본은 KWA 카탈로그에서 열람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9D9384"/>
                </a:solidFill>
                <a:latin typeface="맑은 고딕"/>
              </a:rPr>
              <a:t>출처: archive.org 81594 ‘Chosin to Hungnam’ — Periscope Film 디지털화본(워터마크 원본 표시)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3440"/>
            <a:ext cx="12191695" cy="2194560"/>
          </a:xfrm>
          <a:prstGeom prst="rect">
            <a:avLst/>
          </a:prstGeom>
          <a:solidFill>
            <a:srgbClr val="17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700" b="1">
                <a:solidFill>
                  <a:srgbClr val="E9E2D6"/>
                </a:solidFill>
                <a:latin typeface="맑은 고딕"/>
              </a:rPr>
              <a:t>혹한의 해병 — 사진 원판의 소재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532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C8A24A"/>
                </a:solidFill>
                <a:latin typeface="맑은 고딕"/>
              </a:rPr>
              <a:t>NARA RG 127 원판 3건(NAID 확인) · 화면은 같은 시기 해군 다큐 자료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9D9384"/>
                </a:solidFill>
                <a:latin typeface="맑은 고딕"/>
              </a:rPr>
              <a:t>출처: 미 해군 다큐멘터리 프레임(자료 화면) · US PD — 원판 스캔은 NARA 카탈로그 NAID 링크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54864" cy="310896"/>
          </a:xfrm>
          <a:prstGeom prst="rect">
            <a:avLst/>
          </a:prstGeom>
          <a:solidFill>
            <a:srgbClr val="8F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8F1D22"/>
                </a:solidFill>
                <a:latin typeface="맑은 고딕"/>
              </a:rPr>
              <a:t>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241D15"/>
                </a:solidFill>
                <a:latin typeface="맑은 고딕"/>
              </a:rPr>
              <a:t>영상은 프레임으로 먼저 봅니다</a:t>
            </a:r>
          </a:p>
        </p:txBody>
      </p:sp>
      <p:pic>
        <p:nvPicPr>
          <p:cNvPr id="5" name="Picture 4" descr="s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737360"/>
            <a:ext cx="923544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9D9384"/>
                </a:solidFill>
                <a:latin typeface="맑은 고딕"/>
              </a:rPr>
              <a:t>실제 보고서 지면 — 타임코드 프레임 다수 + 원본 시청 버튼: 열람을 유도하되 원본을 대체하지 않습니다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54864" cy="310896"/>
          </a:xfrm>
          <a:prstGeom prst="rect">
            <a:avLst/>
          </a:prstGeom>
          <a:solidFill>
            <a:srgbClr val="8F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8F1D22"/>
                </a:solidFill>
                <a:latin typeface="맑은 고딕"/>
              </a:rPr>
              <a:t>발굴 기록 목록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241D15"/>
                </a:solidFill>
                <a:latin typeface="맑은 고딕"/>
              </a:rPr>
              <a:t>대표 21건 </a:t>
            </a:r>
            <a:r>
              <a:rPr sz="3000" b="1">
                <a:solidFill>
                  <a:srgbClr val="8F1D22"/>
                </a:solidFill>
                <a:latin typeface="맑은 고딕"/>
              </a:rPr>
              <a:t>/ 검색 총계 153건</a:t>
            </a:r>
          </a:p>
        </p:txBody>
      </p:sp>
      <p:pic>
        <p:nvPicPr>
          <p:cNvPr id="5" name="Picture 4" descr="s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737360"/>
            <a:ext cx="923544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9D9384"/>
                </a:solidFill>
                <a:latin typeface="맑은 고딕"/>
              </a:rPr>
              <a:t>실제 보고서 지면 — 식별자·소장처·권리 배지·재현 쿼리까지 수록(전량 재검증 가능)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54864" cy="310896"/>
          </a:xfrm>
          <a:prstGeom prst="rect">
            <a:avLst/>
          </a:prstGeom>
          <a:solidFill>
            <a:srgbClr val="8F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8F1D22"/>
                </a:solidFill>
                <a:latin typeface="맑은 고딕"/>
              </a:rPr>
              <a:t>다른 점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241D15"/>
                </a:solidFill>
                <a:latin typeface="맑은 고딕"/>
              </a:rPr>
              <a:t>화려함보다 먼저, </a:t>
            </a:r>
            <a:r>
              <a:rPr sz="3000" b="1">
                <a:solidFill>
                  <a:srgbClr val="8F1D22"/>
                </a:solidFill>
                <a:latin typeface="맑은 고딕"/>
              </a:rPr>
              <a:t>검증</a:t>
            </a:r>
          </a:p>
        </p:txBody>
      </p:sp>
      <p:pic>
        <p:nvPicPr>
          <p:cNvPr id="5" name="Picture 4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675120" cy="2606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783080"/>
            <a:ext cx="4206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241D15"/>
                </a:solidFill>
                <a:latin typeface="맑은 고딕"/>
              </a:rPr>
              <a:t>실물 기록만</a:t>
            </a:r>
            <a:r>
              <a:rPr sz="1300" b="0">
                <a:solidFill>
                  <a:srgbClr val="241D15"/>
                </a:solidFill>
                <a:latin typeface="맑은 고딕"/>
              </a:rPr>
              <a:t> — AI 생성 인물·장면 금지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241D15"/>
                </a:solidFill>
                <a:latin typeface="맑은 고딕"/>
              </a:rPr>
              <a:t>원문 대조</a:t>
            </a:r>
            <a:r>
              <a:rPr sz="1300" b="0">
                <a:solidFill>
                  <a:srgbClr val="241D15"/>
                </a:solidFill>
                <a:latin typeface="맑은 고딕"/>
              </a:rPr>
              <a:t> — 훈격·날짜·건수 API 확인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241D15"/>
                </a:solidFill>
                <a:latin typeface="맑은 고딕"/>
              </a:rPr>
              <a:t>출처 명시</a:t>
            </a:r>
            <a:r>
              <a:rPr sz="1300" b="0">
                <a:solidFill>
                  <a:srgbClr val="241D15"/>
                </a:solidFill>
                <a:latin typeface="맑은 고딕"/>
              </a:rPr>
              <a:t> — 기관·식별자·링크 전 도판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241D15"/>
                </a:solidFill>
                <a:latin typeface="맑은 고딕"/>
              </a:rPr>
              <a:t>정정 공개</a:t>
            </a:r>
            <a:r>
              <a:rPr sz="1300" b="0">
                <a:solidFill>
                  <a:srgbClr val="241D15"/>
                </a:solidFill>
                <a:latin typeface="맑은 고딕"/>
              </a:rPr>
              <a:t> — 공개 상태 정정 이력 기록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241D15"/>
                </a:solidFill>
                <a:latin typeface="맑은 고딕"/>
              </a:rPr>
              <a:t/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8F1D22"/>
                </a:solidFill>
                <a:latin typeface="맑은 고딕"/>
              </a:rPr>
              <a:t>게재윤리 4단계</a:t>
            </a:r>
            <a:r>
              <a:rPr sz="1300" b="0">
                <a:solidFill>
                  <a:srgbClr val="241D15"/>
                </a:solidFill>
                <a:latin typeface="맑은 고딕"/>
              </a:rPr>
              <a:t> — 포로·사망자 존엄 심사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9D9384"/>
                </a:solidFill>
                <a:latin typeface="맑은 고딕"/>
              </a:rPr>
              <a:t>왼쪽: 실제 보고서 지면 — 권리 판정과 게재 윤리, 검증 낙관(네 가지를 통과한 산출물에만 찍힘)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54864" cy="310896"/>
          </a:xfrm>
          <a:prstGeom prst="rect">
            <a:avLst/>
          </a:prstGeom>
          <a:solidFill>
            <a:srgbClr val="8F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8A24A"/>
                </a:solidFill>
                <a:latin typeface="맑은 고딕"/>
              </a:rPr>
              <a:t>연구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E9E2D6"/>
                </a:solidFill>
                <a:latin typeface="맑은 고딕"/>
              </a:rPr>
              <a:t>발굴이 곧 </a:t>
            </a:r>
            <a:r>
              <a:rPr sz="3000" b="1">
                <a:solidFill>
                  <a:srgbClr val="C8A24A"/>
                </a:solidFill>
                <a:latin typeface="맑은 고딕"/>
              </a:rPr>
              <a:t>연구 그래프</a:t>
            </a:r>
            <a:r>
              <a:rPr sz="3000" b="1">
                <a:solidFill>
                  <a:srgbClr val="E9E2D6"/>
                </a:solidFill>
                <a:latin typeface="맑은 고딕"/>
              </a:rPr>
              <a:t>가 됩니다 — KARDA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5400" b="1">
                <a:solidFill>
                  <a:srgbClr val="C8A24A"/>
                </a:solidFill>
                <a:latin typeface="맑은 고딕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461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E9E2D6"/>
                </a:solidFill>
                <a:latin typeface="맑은 고딕"/>
              </a:rPr>
              <a:t>노드 — 기록·부대·인물·장소·사건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1031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5400" b="1">
                <a:solidFill>
                  <a:srgbClr val="C8A24A"/>
                </a:solidFill>
                <a:latin typeface="맑은 고딕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32461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E9E2D6"/>
                </a:solidFill>
                <a:latin typeface="맑은 고딕"/>
              </a:rPr>
              <a:t>엣지 — 관계마다 근거(basis)·신뢰도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1031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5400" b="1">
                <a:solidFill>
                  <a:srgbClr val="C8A24A"/>
                </a:solidFill>
                <a:latin typeface="맑은 고딕"/>
              </a:rPr>
              <a:t>3중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32461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E9E2D6"/>
                </a:solidFill>
                <a:latin typeface="맑은 고딕"/>
              </a:rPr>
              <a:t>소장 — same_film 관계로 명시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8056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E9E2D6"/>
                </a:solidFill>
                <a:latin typeface="맑은 고딕"/>
              </a:rPr>
              <a:t>신뢰도 필터: 확정(API·원문 판독)·높음만 그래프 수록 — 부분 이하는 tentative로 별도 명기.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E9E2D6"/>
                </a:solidFill>
                <a:latin typeface="맑은 고딕"/>
              </a:rPr>
              <a:t>CSV(utf-8-sig) 규격으로 ZIP의 kad/ 폴더에 동봉 — 온톨로지 연구에 바로 투입 가능합니다.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9D9384"/>
                </a:solidFill>
                <a:latin typeface="맑은 고딕"/>
              </a:rPr>
              <a:t>karda_nodes.csv · karda_edges.csv — make_metadata.py 규격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54864" cy="310896"/>
          </a:xfrm>
          <a:prstGeom prst="rect">
            <a:avLst/>
          </a:prstGeom>
          <a:solidFill>
            <a:srgbClr val="8F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8F1D22"/>
                </a:solidFill>
                <a:latin typeface="맑은 고딕"/>
              </a:rPr>
              <a:t>전파물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>
                <a:solidFill>
                  <a:srgbClr val="241D15"/>
                </a:solidFill>
                <a:latin typeface="맑은 고딕"/>
              </a:rPr>
              <a:t>같은 발굴, 세 가지 얼굴</a:t>
            </a:r>
          </a:p>
        </p:txBody>
      </p:sp>
      <p:pic>
        <p:nvPicPr>
          <p:cNvPr id="5" name="Picture 4" descr="s12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5532120" cy="4206240"/>
          </a:xfrm>
          <a:prstGeom prst="rect">
            <a:avLst/>
          </a:prstGeom>
        </p:spPr>
      </p:pic>
      <p:pic>
        <p:nvPicPr>
          <p:cNvPr id="6" name="Picture 5" descr="s12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37360"/>
            <a:ext cx="539496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9D9384"/>
                </a:solidFill>
                <a:latin typeface="맑은 고딕"/>
              </a:rPr>
              <a:t>실제 보고서 지면 — 카드뉴스 8장(1080×1080)·포스터 시리즈 4장(1080×1350) · 원본 PNG는 ZIP에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54864" cy="310896"/>
          </a:xfrm>
          <a:prstGeom prst="rect">
            <a:avLst/>
          </a:prstGeom>
          <a:solidFill>
            <a:srgbClr val="8F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8A24A"/>
                </a:solidFill>
                <a:latin typeface="맑은 고딕"/>
              </a:rPr>
              <a:t>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800" b="1">
                <a:solidFill>
                  <a:srgbClr val="E9E2D6"/>
                </a:solidFill>
                <a:latin typeface="맑은 고딕"/>
              </a:rPr>
              <a:t>당신의 주제는 </a:t>
            </a:r>
            <a:r>
              <a:rPr sz="3800" b="1">
                <a:solidFill>
                  <a:srgbClr val="C8A24A"/>
                </a:solidFill>
                <a:latin typeface="맑은 고딕"/>
              </a:rPr>
              <a:t>무엇인가요?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774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0">
                <a:solidFill>
                  <a:srgbClr val="E9E2D6"/>
                </a:solidFill>
                <a:latin typeface="맑은 고딕"/>
              </a:rPr>
              <a:t>할아버지의 부대, 고향의 옛 사진, 잊힌 사건 — 한국어 한 문장이면 조사가 시작됩니다.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383280"/>
            <a:ext cx="73152" cy="1234440"/>
          </a:xfrm>
          <a:prstGeom prst="rect">
            <a:avLst/>
          </a:prstGeom>
          <a:solidFill>
            <a:srgbClr val="C8A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474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500" b="1">
                <a:solidFill>
                  <a:srgbClr val="E9E2D6"/>
                </a:solidFill>
                <a:latin typeface="맑은 고딕"/>
              </a:rPr>
              <a:t>“○○○ 풀패키지로 만들어줘”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9D9384"/>
                </a:solidFill>
                <a:latin typeface="맑은 고딕"/>
              </a:rPr>
              <a:t>Claude 커넥터: korea-archive-mcp.vercel.app/api/mcp — 설정 → 커넥터 → 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292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C8A24A"/>
                </a:solidFill>
                <a:latin typeface="맑은 고딕"/>
              </a:rPr>
              <a:t>실전 산출물: 그로스터 연대(제1호) · 장진호(제2호)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54864" cy="310896"/>
          </a:xfrm>
          <a:prstGeom prst="rect">
            <a:avLst/>
          </a:prstGeom>
          <a:solidFill>
            <a:srgbClr val="8F1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976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8F1D22"/>
                </a:solidFill>
                <a:latin typeface="맑은 고딕"/>
              </a:rPr>
              <a:t>기록 출처 Archives cited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700" b="1">
                <a:solidFill>
                  <a:srgbClr val="241D15"/>
                </a:solidFill>
                <a:latin typeface="맑은 고딕"/>
              </a:rPr>
              <a:t>이 발표의 모든 화면은 실물 기록입니다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11155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241D15"/>
                </a:solidFill>
                <a:latin typeface="맑은 고딕"/>
              </a:rPr>
              <a:t>미국 </a:t>
            </a:r>
            <a:r>
              <a:rPr sz="1500" b="0">
                <a:solidFill>
                  <a:srgbClr val="241D15"/>
                </a:solidFill>
                <a:latin typeface="맑은 고딕"/>
              </a:rPr>
              <a:t>National Archives and Records Administration(NARA) — RG 111 통신대·RG 127 해병대 · US PD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241D15"/>
                </a:solidFill>
                <a:latin typeface="맑은 고딕"/>
              </a:rPr>
              <a:t>미국 </a:t>
            </a:r>
            <a:r>
              <a:rPr sz="1500" b="0">
                <a:solidFill>
                  <a:srgbClr val="241D15"/>
                </a:solidFill>
                <a:latin typeface="맑은 고딕"/>
              </a:rPr>
              <a:t>Internet Archive(archive.org) — ADC-9438 · 81594(Periscope Film 디지털화본, 워터마크 표시) · PD 사본 공개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241D15"/>
                </a:solidFill>
                <a:latin typeface="맑은 고딕"/>
              </a:rPr>
              <a:t>한국 </a:t>
            </a:r>
            <a:r>
              <a:rPr sz="1500" b="0">
                <a:solidFill>
                  <a:srgbClr val="241D15"/>
                </a:solidFill>
                <a:latin typeface="맑은 고딕"/>
              </a:rPr>
              <a:t>KOREAN WAR ARCHIVES 6·25전쟁 아카이브센터(koreanwar.or.kr) — 협약기관, 출처 표기 의무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241D15"/>
                </a:solidFill>
                <a:latin typeface="맑은 고딕"/>
              </a:rPr>
              <a:t>한국 </a:t>
            </a:r>
            <a:r>
              <a:rPr sz="1500" b="0">
                <a:solidFill>
                  <a:srgbClr val="241D15"/>
                </a:solidFill>
                <a:latin typeface="맑은 고딕"/>
              </a:rPr>
              <a:t>국가보훈부 유엔참전용사 디지털아카이브 — 구술영상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0">
                <a:solidFill>
                  <a:srgbClr val="241D15"/>
                </a:solidFill>
                <a:latin typeface="맑은 고딕"/>
              </a:rPr>
              <a:t/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0">
                <a:solidFill>
                  <a:srgbClr val="8F1D22"/>
                </a:solidFill>
                <a:latin typeface="맑은 고딕"/>
              </a:rPr>
              <a:t>링크·수치·건수는 도구 호출로 실확인(2026-08-13) · 게재윤리 4단계 적용 · 검증 낙관 통과본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8F1D22"/>
                </a:solidFill>
                <a:latin typeface="맑은 고딕"/>
              </a:rPr>
              <a:t>KOREA ARCHIVE 통합검색</a:t>
            </a:r>
            <a:r>
              <a:rPr sz="1400" b="0">
                <a:solidFill>
                  <a:srgbClr val="241D15"/>
                </a:solidFill>
                <a:latin typeface="맑은 고딕"/>
              </a:rPr>
              <a:t>  — 실물 기록만, 검증된 것만.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